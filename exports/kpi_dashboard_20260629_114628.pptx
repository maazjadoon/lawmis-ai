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12188952" cy="73152"/>
          </a:xfrm>
          <a:prstGeom prst="rect">
            <a:avLst/>
          </a:prstGeom>
          <a:solidFill>
            <a:srgbClr val="2EA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LAWMIS KPI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EA85E"/>
                </a:solidFill>
              </a:rPr>
              <a:t>Generated: 29 June 2026, 11:46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ABBCC"/>
                </a:solidFill>
              </a:rPr>
              <a:t>License &amp; Workshop Management Information System — Analytics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2EA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🏭  Workshops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A"/>
                </a:solidFill>
              </a:rPr>
              <a:t>Total Workshops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2A4A"/>
                </a:solidFill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280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A"/>
                </a:solidFill>
              </a:rPr>
              <a:t>Active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600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2A4A"/>
                </a:solidFill>
              </a:rPr>
              <a:t>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80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A"/>
                </a:solidFill>
              </a:rPr>
              <a:t>Pending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1600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2A4A"/>
                </a:solidFill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51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A"/>
                </a:solidFill>
              </a:rPr>
              <a:t>Rejected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71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2A4A"/>
                </a:solidFill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651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A"/>
                </a:solidFill>
              </a:rPr>
              <a:t>Approved This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971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2A4A"/>
                </a:solidFill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651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A"/>
                </a:solidFill>
              </a:rPr>
              <a:t>New This Month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971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2A4A"/>
                </a:solidFill>
              </a:rPr>
              <a:t>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2EA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📄  Licenses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A"/>
                </a:solidFill>
              </a:rPr>
              <a:t>Total Licenses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2A4A"/>
                </a:solidFill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280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A"/>
                </a:solidFill>
              </a:rPr>
              <a:t>Active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600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2A4A"/>
                </a:solidFill>
              </a:rPr>
              <a:t>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80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A"/>
                </a:solidFill>
              </a:rPr>
              <a:t>Expired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1600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2A4A"/>
                </a:solidFill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51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A"/>
                </a:solidFill>
              </a:rPr>
              <a:t>Expiring in 30 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71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2A4A"/>
                </a:solidFill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651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A"/>
                </a:solidFill>
              </a:rPr>
              <a:t>Renewal Count (Total)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971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2A4A"/>
                </a:solidFill>
              </a:rPr>
              <a:t>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2EA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💰  Payments &amp; Revenue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A"/>
                </a:solidFill>
              </a:rPr>
              <a:t>Total Revenue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2A4A"/>
                </a:solidFill>
              </a:rPr>
              <a:t>PKR 1002500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280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A"/>
                </a:solidFill>
              </a:rPr>
              <a:t>Revenue This Month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600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2A4A"/>
                </a:solidFill>
              </a:rPr>
              <a:t>PKR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80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A"/>
                </a:solidFill>
              </a:rPr>
              <a:t>Paid Payments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1600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2A4A"/>
                </a:solidFill>
              </a:rPr>
              <a:t>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51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A"/>
                </a:solidFill>
              </a:rPr>
              <a:t>Pending Payments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71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2A4A"/>
                </a:solidFill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651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A"/>
                </a:solidFill>
              </a:rPr>
              <a:t>Average Fee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971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2A4A"/>
                </a:solidFill>
              </a:rPr>
              <a:t>PKR 10025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2EA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🚗  Emission Tests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A"/>
                </a:solidFill>
              </a:rPr>
              <a:t>Tests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2A4A"/>
                </a:solidFill>
              </a:rPr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280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A"/>
                </a:solidFill>
              </a:rPr>
              <a:t>Total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600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2A4A"/>
                </a:solidFill>
              </a:rPr>
              <a:t>47230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80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A"/>
                </a:solidFill>
              </a:rPr>
              <a:t>Pass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1600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2A4A"/>
                </a:solidFill>
              </a:rPr>
              <a:t>48.9%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51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A"/>
                </a:solidFill>
              </a:rPr>
              <a:t>Failure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71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2A4A"/>
                </a:solidFill>
              </a:rPr>
              <a:t>15.7%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651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A"/>
                </a:solidFill>
              </a:rPr>
              <a:t>Unique Vehicles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971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2A4A"/>
                </a:solidFill>
              </a:rPr>
              <a:t>500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2EA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⭐  RTA Inspections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A"/>
                </a:solidFill>
              </a:rPr>
              <a:t>Total Inspections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2A4A"/>
                </a:solidFill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280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A"/>
                </a:solidFill>
              </a:rPr>
              <a:t>Passed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600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2A4A"/>
                </a:solidFill>
              </a:rPr>
              <a:t>96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80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A"/>
                </a:solidFill>
              </a:rPr>
              <a:t>Failed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1600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2A4A"/>
                </a:solidFill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51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A"/>
                </a:solidFill>
              </a:rPr>
              <a:t>Avg 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71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2A4A"/>
                </a:solidFill>
              </a:rPr>
              <a:t>39.7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651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A"/>
                </a:solidFill>
              </a:rPr>
              <a:t>Follow-up Required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971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2A4A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2EA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🏙️  Top Cities by Workshop Count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188720"/>
          <a:ext cx="109728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City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Workshop Count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Khuzdar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Quetta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Turbat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Karachi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Lahore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2EA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📈  Monthly Trends (Last 6 Months)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188720"/>
          <a:ext cx="109728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Month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New Workshops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Revenue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Emission Tests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Jan 2026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PKR 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Feb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PKR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Mar 2026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PKR 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Apr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PKR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May 2026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PKR 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Jun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PKR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